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0"/>
            <a:ext cx="345917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DD4BF"/>
                </a:solidFill>
                <a:latin typeface="Aptos"/>
              </a:rPr>
              <a:t>SEMANTIC ARENA  /  LIVE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13232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1F5F9"/>
                </a:solidFill>
                <a:latin typeface="Aptos"/>
              </a:rPr>
              <a:t>Vector search,
head to 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090672"/>
            <a:ext cx="6858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A1AEC1"/>
                </a:solidFill>
                <a:latin typeface="Aptos"/>
              </a:rPr>
              <a:t>Apache Solr  ×  Meilisearch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794760"/>
            <a:ext cx="72237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1F5F9"/>
                </a:solidFill>
                <a:latin typeface="Aptos"/>
              </a:rPr>
              <a:t>qwen3-embedding:8b  •  4,096-dimensional vectors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297680"/>
            <a:ext cx="7132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1AEC1"/>
                </a:solidFill>
                <a:latin typeface="Aptos"/>
              </a:rPr>
              <a:t>A controlled vector-search latency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051560"/>
            <a:ext cx="2743200" cy="1005840"/>
          </a:xfrm>
          <a:prstGeom prst="round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7152" y="1188720"/>
            <a:ext cx="11430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2DD4BF"/>
                </a:solidFill>
                <a:latin typeface="Aptos"/>
              </a:rPr>
              <a:t>11,648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38988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1AEC1"/>
                </a:solidFill>
                <a:latin typeface="Aptos"/>
              </a:rPr>
              <a:t>indexed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331720"/>
            <a:ext cx="2743200" cy="1005840"/>
          </a:xfrm>
          <a:prstGeom prst="round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468880"/>
            <a:ext cx="731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60A5FA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67004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1AEC1"/>
                </a:solidFill>
                <a:latin typeface="Aptos"/>
              </a:rPr>
              <a:t>latency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611880"/>
            <a:ext cx="2743200" cy="1005840"/>
          </a:xfrm>
          <a:prstGeom prst="round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3749039"/>
            <a:ext cx="15087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FBBF24"/>
                </a:solidFill>
                <a:latin typeface="Aptos"/>
              </a:rPr>
              <a:t>5 ×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3931920"/>
            <a:ext cx="914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1AEC1"/>
                </a:solidFill>
                <a:latin typeface="Aptos"/>
              </a:rPr>
              <a:t>trials × repeats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6144768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1AEC1"/>
                </a:solidFill>
                <a:latin typeface="Aptos"/>
              </a:rPr>
              <a:t>27 OCT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144768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Aptos"/>
              </a:rPr>
              <a:t>PILOT RESULT — NOT A UNIVERSAL RANKING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1F5F9"/>
                </a:solidFill>
                <a:latin typeface="Aptos"/>
              </a:rPr>
              <a:t>A fair comparison starts with shared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Vector retrieval only — indexing, embedding, fusion, and answer generation are not in query latency.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45368" cy="10972"/>
          </a:xfrm>
          <a:prstGeom prst="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1AEC1"/>
                </a:solidFill>
                <a:latin typeface="Aptos"/>
              </a:rPr>
              <a:t>SEMANTIC ARENA  /  VECTOR SEARCH PILOT  /  27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1AEC1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606040" cy="2788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640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14600"/>
            <a:ext cx="2194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Aptos"/>
              </a:rPr>
              <a:t>Same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27248"/>
            <a:ext cx="2176272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1AEC1"/>
                </a:solidFill>
                <a:latin typeface="Aptos"/>
              </a:rPr>
              <a:t>11,648 chunks from zbdoc.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554480"/>
            <a:ext cx="2606040" cy="2788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783080"/>
            <a:ext cx="640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514600"/>
            <a:ext cx="2194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Aptos"/>
              </a:rPr>
              <a:t>Same vectors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127248"/>
            <a:ext cx="2176272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1AEC1"/>
                </a:solidFill>
                <a:latin typeface="Aptos"/>
              </a:rPr>
              <a:t>One shared qwen3-embedding:8b query vector per question.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554480"/>
            <a:ext cx="2606040" cy="2788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783080"/>
            <a:ext cx="640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514600"/>
            <a:ext cx="2194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Aptos"/>
              </a:rPr>
              <a:t>Same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3127248"/>
            <a:ext cx="2176272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1AEC1"/>
                </a:solidFill>
                <a:latin typeface="Aptos"/>
              </a:rPr>
              <a:t>Top-10 vector-only retrieval; no lexical search or RRF.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554480"/>
            <a:ext cx="2606040" cy="2788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1783080"/>
            <a:ext cx="640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514600"/>
            <a:ext cx="2194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Aptos"/>
              </a:rPr>
              <a:t>Measured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3127248"/>
            <a:ext cx="2176272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1AEC1"/>
                </a:solidFill>
                <a:latin typeface="Aptos"/>
              </a:rPr>
              <a:t>Four fixed queries; latency measured without making quality claims.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46320"/>
            <a:ext cx="10927080" cy="822960"/>
          </a:xfrm>
          <a:prstGeom prst="round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93208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1F5F9"/>
                </a:solidFill>
                <a:latin typeface="Aptos"/>
              </a:rPr>
              <a:t>Alternating engine order  •  1 warm-up/query  •  5 trials  •  3 measured repeats/query/trial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1F5F9"/>
                </a:solidFill>
                <a:latin typeface="Aptos"/>
              </a:rPr>
              <a:t>On this pilot, Apache Solr had lower mean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Client-observed latency across successful vector-search requests; lower is faster.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45368" cy="10972"/>
          </a:xfrm>
          <a:prstGeom prst="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1AEC1"/>
                </a:solidFill>
                <a:latin typeface="Aptos"/>
              </a:rPr>
              <a:t>SEMANTIC ARENA  /  VECTOR SEARCH PILOT  /  27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1AEC1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7492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664208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D4BF"/>
                </a:solidFill>
                <a:latin typeface="Aptos"/>
              </a:rPr>
              <a:t>Meilisearch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984248"/>
            <a:ext cx="1645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Aptos"/>
              </a:rPr>
              <a:t>12.09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945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1AEC1"/>
                </a:solidFill>
                <a:latin typeface="Aptos"/>
              </a:rPr>
              <a:t>ms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542032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p50  12.08 ms     p95  14.05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69164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60 measured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074920" cy="1417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664208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Aptos"/>
              </a:rPr>
              <a:t>Apache Solr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1984248"/>
            <a:ext cx="1645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1F5F9"/>
                </a:solidFill>
                <a:latin typeface="Aptos"/>
              </a:rPr>
              <a:t>6.47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1945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1AEC1"/>
                </a:solidFill>
                <a:latin typeface="Aptos"/>
              </a:rPr>
              <a:t>ms 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542032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p50  6.36 ms     p95  7.45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69164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60 measured requests</a:t>
            </a:r>
          </a:p>
        </p:txBody>
      </p:sp>
      <p:pic>
        <p:nvPicPr>
          <p:cNvPr id="19" name="Picture 18" descr="vector-search-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63240"/>
            <a:ext cx="6446520" cy="302986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772400" y="3291840"/>
            <a:ext cx="3611880" cy="2057400"/>
          </a:xfrm>
          <a:prstGeom prst="round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3566160"/>
            <a:ext cx="1645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300" b="1">
                <a:solidFill>
                  <a:srgbClr val="60A5FA"/>
                </a:solidFill>
                <a:latin typeface="Aptos"/>
              </a:rPr>
              <a:t>1.9×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389120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Apache Solr lower mean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983480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Measured in this setup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1F5F9"/>
                </a:solidFill>
                <a:latin typeface="Aptos"/>
              </a:rPr>
              <a:t>Latency by query — retrieval quality not scored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No reviewed relevance judgments were supplied; these charts make no recall or ranking claims.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45368" cy="10972"/>
          </a:xfrm>
          <a:prstGeom prst="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1AEC1"/>
                </a:solidFill>
                <a:latin typeface="Aptos"/>
              </a:rPr>
              <a:t>SEMANTIC ARENA  /  VECTOR SEARCH PILOT  /  27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1AEC1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vector-search-latency-by-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858000" cy="40290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1965960"/>
            <a:ext cx="3246120" cy="2514600"/>
          </a:xfrm>
          <a:prstGeom prst="round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304288"/>
            <a:ext cx="9144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57860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1AEC1"/>
                </a:solidFill>
                <a:latin typeface="Aptos"/>
              </a:rPr>
              <a:t>fixed test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383280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1F5F9"/>
                </a:solidFill>
                <a:latin typeface="Aptos"/>
              </a:rPr>
              <a:t>No qrels supplied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886200"/>
            <a:ext cx="2606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1AEC1"/>
                </a:solidFill>
                <a:latin typeface="Aptos"/>
              </a:rPr>
              <a:t>Latency is reported; Recall, MRR and nDCG are intentionally omitted.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1AEC1"/>
                </a:solidFill>
                <a:latin typeface="Aptos"/>
              </a:rPr>
              <a:t>Query phrases cover study objectives, patient groups, interventions and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1F5F9"/>
                </a:solidFill>
                <a:latin typeface="Aptos"/>
              </a:rPr>
              <a:t>What this result does — and does not —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A presentation-ready smoke test is not a production-scale engine benchmark.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45368" cy="10972"/>
          </a:xfrm>
          <a:prstGeom prst="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1AEC1"/>
                </a:solidFill>
                <a:latin typeface="Aptos"/>
              </a:rPr>
              <a:t>SEMANTIC ARENA  /  VECTOR SEARCH PILOT  /  27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1AEC1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74920" cy="3566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41148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DD4BF"/>
                </a:solidFill>
                <a:latin typeface="Aptos"/>
              </a:rPr>
              <a:t>What we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29768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Vector query latency
</a:t>
            </a:r>
            <a:r>
              <a:rPr sz="1300">
                <a:solidFill>
                  <a:srgbClr val="A1AEC1"/>
                </a:solidFill>
                <a:latin typeface="Aptos"/>
              </a:rPr>
              <a:t>Client-observed, sequential calls on one local host.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Top-1 relevance
</a:t>
            </a:r>
            <a:r>
              <a:rPr sz="1300">
                <a:solidFill>
                  <a:srgbClr val="A1AEC1"/>
                </a:solidFill>
                <a:latin typeface="Aptos"/>
              </a:rPr>
              <a:t>Latency only; no relevance judgments were supplied.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Controlled inputs
</a:t>
            </a:r>
            <a:r>
              <a:rPr sz="1300">
                <a:solidFill>
                  <a:srgbClr val="A1AEC1"/>
                </a:solidFill>
                <a:latin typeface="Aptos"/>
              </a:rPr>
              <a:t>Same Ollama model, dimensions, and query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074920" cy="3566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480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BBF24"/>
                </a:solidFill>
                <a:latin typeface="Aptos"/>
              </a:rPr>
              <a:t>What we did not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389120" cy="2240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Scale
</a:t>
            </a:r>
            <a:r>
              <a:rPr sz="1300">
                <a:solidFill>
                  <a:srgbClr val="A1AEC1"/>
                </a:solidFill>
                <a:latin typeface="Aptos"/>
              </a:rPr>
              <a:t>11,648 indexed chunks and 4 queries.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Concurrency
</a:t>
            </a:r>
            <a:r>
              <a:rPr sz="1300">
                <a:solidFill>
                  <a:srgbClr val="A1AEC1"/>
                </a:solidFill>
                <a:latin typeface="Aptos"/>
              </a:rPr>
              <a:t>No load test, query throughput, or saturation point.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1F5F9"/>
                </a:solidFill>
                <a:latin typeface="Aptos"/>
              </a:rPr>
              <a:t>Server resources
</a:t>
            </a:r>
            <a:r>
              <a:rPr sz="1300">
                <a:solidFill>
                  <a:srgbClr val="A1AEC1"/>
                </a:solidFill>
                <a:latin typeface="Aptos"/>
              </a:rPr>
              <a:t>No CPU, RAM, disk, or server-only timing.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321808"/>
            <a:ext cx="10515600" cy="594360"/>
          </a:xfrm>
          <a:prstGeom prst="round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504688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1F5F9"/>
                </a:solidFill>
                <a:latin typeface="Aptos"/>
              </a:rPr>
              <a:t>Treat latency as a local pilot result—not a universal winner.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1F5F9"/>
                </a:solidFill>
                <a:latin typeface="Aptos"/>
              </a:rPr>
              <a:t>Next: turn the pilot into a decision-grade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Keep the same controls; increase query coverage, corpus scale, and workload realism.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45368" cy="10972"/>
          </a:xfrm>
          <a:prstGeom prst="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1AEC1"/>
                </a:solidFill>
                <a:latin typeface="Aptos"/>
              </a:rPr>
              <a:t>SEMANTIC ARENA  /  VECTOR SEARCH PILOT  /  27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1AEC1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074920" cy="16276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9928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46504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1F5F9"/>
                </a:solidFill>
                <a:latin typeface="Aptos"/>
              </a:rPr>
              <a:t>Grow the qrels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21991"/>
            <a:ext cx="374903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1AEC1"/>
                </a:solidFill>
                <a:latin typeface="Aptos"/>
              </a:rPr>
              <a:t>Build 100–300 representative queries; have a reviewer judge relevant chunks.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74920" cy="16276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09928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46504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1F5F9"/>
                </a:solidFill>
                <a:latin typeface="Aptos"/>
              </a:rPr>
              <a:t>Test realistic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221991"/>
            <a:ext cx="374903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1AEC1"/>
                </a:solidFill>
                <a:latin typeface="Aptos"/>
              </a:rPr>
              <a:t>Use the target corpus size and identical chunk/vector inputs.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5074920" cy="16276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67328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03904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1F5F9"/>
                </a:solidFill>
                <a:latin typeface="Aptos"/>
              </a:rPr>
              <a:t>Add concurrency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279392"/>
            <a:ext cx="374903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1AEC1"/>
                </a:solidFill>
                <a:latin typeface="Aptos"/>
              </a:rPr>
              <a:t>Measure p50/p95/p99, throughput, errors, and resource use at target load.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566160"/>
            <a:ext cx="5074920" cy="16276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67328"/>
            <a:ext cx="594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803904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1F5F9"/>
                </a:solidFill>
                <a:latin typeface="Aptos"/>
              </a:rPr>
              <a:t>Report trade-offs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279392"/>
            <a:ext cx="3749039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1AEC1"/>
                </a:solidFill>
                <a:latin typeface="Aptos"/>
              </a:rPr>
              <a:t>Compare quality and latency together; repeat on the intended hardware.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06440"/>
            <a:ext cx="10561320" cy="402336"/>
          </a:xfrm>
          <a:prstGeom prst="roundRect">
            <a:avLst/>
          </a:prstGeom>
          <a:solidFill>
            <a:srgbClr val="26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07024"/>
            <a:ext cx="10195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1AEC1"/>
                </a:solidFill>
                <a:latin typeface="Aptos"/>
              </a:rPr>
              <a:t>Reproducible run: 5 trials × 3 repeats • query embeddings shared • engine order alternated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Solr vs Meilisearch: Vector Search Pilot</dc:title>
  <dc:subject>Measured vector retrieval comparison</dc:subject>
  <dc:creator>Semantic Arena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